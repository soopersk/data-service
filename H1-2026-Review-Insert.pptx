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Velocity</c:v>
                </c:pt>
              </c:strCache>
            </c:strRef>
          </c:tx>
          <c:spPr>
            <a:solidFill>
              <a:srgbClr val="CADCFC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26263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CADCFC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E2761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Pre-copilot</c:v>
                  </c:pt>
                  <c:pt idx="1">
                    <c:v>With AI copilot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100</c:v>
                </c:pt>
                <c:pt idx="1">
                  <c:v>120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26263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6263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2-1.png"/><Relationship Id="rId3" Type="http://schemas.openxmlformats.org/officeDocument/2006/relationships/image" Target="../media/image-2-2.png"/><Relationship Id="rId4" Type="http://schemas.openxmlformats.org/officeDocument/2006/relationships/image" Target="../media/image-2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2026  —  Delivery Highlights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decisive shift from manual operations to an automated, intelligence-driven platform.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265176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60–70%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Reduction in manual monitoring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reporting effort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64992" y="1536192"/>
            <a:ext cx="265176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3364992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474720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sprint velocity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AI copilot adoption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81344" y="1536192"/>
            <a:ext cx="265176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6181344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6291072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VM15 critical vulnerabilities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— full compliance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97696" y="1536192"/>
            <a:ext cx="2651760" cy="1371600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4" name="Text 12"/>
          <p:cNvSpPr/>
          <p:nvPr/>
        </p:nvSpPr>
        <p:spPr>
          <a:xfrm>
            <a:off x="8997696" y="16459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9107424" y="2286000"/>
            <a:ext cx="24323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business teams onboarded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the platform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200400"/>
            <a:ext cx="3575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200400"/>
            <a:ext cx="91440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35112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9856" y="3682472"/>
            <a:ext cx="316017" cy="316017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868680" y="431596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— Flagship</a:t>
            </a:r>
            <a:endParaRPr lang="en-US" sz="1550" dirty="0"/>
          </a:p>
        </p:txBody>
      </p:sp>
      <p:sp>
        <p:nvSpPr>
          <p:cNvPr id="21" name="Text 18"/>
          <p:cNvSpPr/>
          <p:nvPr/>
        </p:nvSpPr>
        <p:spPr>
          <a:xfrm>
            <a:off x="868680" y="482803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 new centralized intelligence layer for calculator runtime and SLA data — delivered end-to-end.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SLA tracking, automated dashboards, and audit-ready historical data for business users.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306824" y="3200400"/>
            <a:ext cx="3575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306824" y="3200400"/>
            <a:ext cx="91440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21"/>
          <p:cNvSpPr/>
          <p:nvPr/>
        </p:nvSpPr>
        <p:spPr>
          <a:xfrm>
            <a:off x="4626864" y="35112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040" y="3682472"/>
            <a:ext cx="316017" cy="316017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4626864" y="431596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Multi-Tenant Platform</a:t>
            </a:r>
            <a:endParaRPr lang="en-US" sz="1550" dirty="0"/>
          </a:p>
        </p:txBody>
      </p:sp>
      <p:sp>
        <p:nvSpPr>
          <p:cNvPr id="27" name="Text 23"/>
          <p:cNvSpPr/>
          <p:nvPr/>
        </p:nvSpPr>
        <p:spPr>
          <a:xfrm>
            <a:off x="4626864" y="482803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full multi-tenant support on the ACD platform with logical team-level isolation.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release cycles and role-based access enabling secure, scalable team onboarding.</a:t>
            </a:r>
            <a:endParaRPr lang="en-US" sz="1100" dirty="0"/>
          </a:p>
        </p:txBody>
      </p:sp>
      <p:sp>
        <p:nvSpPr>
          <p:cNvPr id="28" name="Shape 24"/>
          <p:cNvSpPr/>
          <p:nvPr/>
        </p:nvSpPr>
        <p:spPr>
          <a:xfrm>
            <a:off x="8065008" y="3200400"/>
            <a:ext cx="3575304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8065008" y="3200400"/>
            <a:ext cx="91440" cy="3108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0" name="Shape 26"/>
          <p:cNvSpPr/>
          <p:nvPr/>
        </p:nvSpPr>
        <p:spPr>
          <a:xfrm>
            <a:off x="8385048" y="3511296"/>
            <a:ext cx="658368" cy="65836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6224" y="3682472"/>
            <a:ext cx="316017" cy="316017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8385048" y="4315968"/>
            <a:ext cx="3026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Compliance &amp; Scale</a:t>
            </a:r>
            <a:endParaRPr lang="en-US" sz="1550" dirty="0"/>
          </a:p>
        </p:txBody>
      </p:sp>
      <p:sp>
        <p:nvSpPr>
          <p:cNvPr id="33" name="Text 28"/>
          <p:cNvSpPr/>
          <p:nvPr/>
        </p:nvSpPr>
        <p:spPr>
          <a:xfrm>
            <a:off x="8385048" y="4828032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100% of VM15 critical vulnerabilities — achieving full regulatory compliance.</a:t>
            </a:r>
            <a:endParaRPr lang="en-US" sz="1100" dirty="0"/>
          </a:p>
          <a:p>
            <a:pPr marL="342900" indent="-342900">
              <a:lnSpc>
                <a:spcPct val="104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Materially strengthened risk posture and established a scalable platform foundation.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AI-Driven Productivity &amp; Delivery Acceleration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 AI into the delivery model — measurable ROI in speed, capacity, and quality.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36192"/>
            <a:ext cx="5166360" cy="205740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73736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~20%</a:t>
            </a:r>
            <a:endParaRPr lang="en-US" sz="5800" dirty="0"/>
          </a:p>
        </p:txBody>
      </p:sp>
      <p:sp>
        <p:nvSpPr>
          <p:cNvPr id="6" name="Text 4"/>
          <p:cNvSpPr/>
          <p:nvPr/>
        </p:nvSpPr>
        <p:spPr>
          <a:xfrm>
            <a:off x="548640" y="2706624"/>
            <a:ext cx="5166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UPLIFT IN SPRINT VELOCITY WITH AI COPILOT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822960" y="3054096"/>
            <a:ext cx="4617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AFC1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 one extra day of delivery capacity per developer, each week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3767328"/>
            <a:ext cx="5166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VELOCITY  ·  INDEXED TO PRE-COPILOT BASELINE</a:t>
            </a:r>
            <a:endParaRPr lang="en-US" sz="100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502920" y="4041648"/>
          <a:ext cx="5257800" cy="2221992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Shape 7"/>
          <p:cNvSpPr/>
          <p:nvPr/>
        </p:nvSpPr>
        <p:spPr>
          <a:xfrm>
            <a:off x="5989320" y="1536192"/>
            <a:ext cx="5650992" cy="1463040"/>
          </a:xfrm>
          <a:prstGeom prst="rect">
            <a:avLst/>
          </a:prstGeom>
          <a:solidFill>
            <a:srgbClr val="E8EF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989320" y="1536192"/>
            <a:ext cx="91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Shape 9"/>
          <p:cNvSpPr/>
          <p:nvPr/>
        </p:nvSpPr>
        <p:spPr>
          <a:xfrm>
            <a:off x="6300216" y="1929384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6147" y="2105315"/>
            <a:ext cx="324795" cy="32479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196328" y="1755648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Faster flagship delivery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7196328" y="2148840"/>
            <a:ext cx="4169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coding tools compressed the Observability build timeline, bringing a strategic capability to the business sooner.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989320" y="3172968"/>
            <a:ext cx="5650992" cy="1463040"/>
          </a:xfrm>
          <a:prstGeom prst="rect">
            <a:avLst/>
          </a:prstGeom>
          <a:solidFill>
            <a:srgbClr val="E8EF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5989320" y="3172968"/>
            <a:ext cx="91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Shape 14"/>
          <p:cNvSpPr/>
          <p:nvPr/>
        </p:nvSpPr>
        <p:spPr>
          <a:xfrm>
            <a:off x="6300216" y="3566160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6147" y="3742091"/>
            <a:ext cx="324795" cy="32479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196328" y="3392424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Speed without trade-offs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7196328" y="3785616"/>
            <a:ext cx="4169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coverage and code quality improved alongside pace — faster delivery, not riskier delivery.</a:t>
            </a:r>
            <a:endParaRPr lang="en-US" sz="1150" dirty="0"/>
          </a:p>
        </p:txBody>
      </p:sp>
      <p:sp>
        <p:nvSpPr>
          <p:cNvPr id="22" name="Shape 17"/>
          <p:cNvSpPr/>
          <p:nvPr/>
        </p:nvSpPr>
        <p:spPr>
          <a:xfrm>
            <a:off x="5989320" y="4809744"/>
            <a:ext cx="5650992" cy="1463040"/>
          </a:xfrm>
          <a:prstGeom prst="rect">
            <a:avLst/>
          </a:prstGeom>
          <a:solidFill>
            <a:srgbClr val="E8EFFB"/>
          </a:solidFill>
          <a:ln w="12700">
            <a:solidFill>
              <a:srgbClr val="DCE3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89320" y="4809744"/>
            <a:ext cx="91440" cy="14630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4" name="Shape 19"/>
          <p:cNvSpPr/>
          <p:nvPr/>
        </p:nvSpPr>
        <p:spPr>
          <a:xfrm>
            <a:off x="6300216" y="5202936"/>
            <a:ext cx="676656" cy="67665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6147" y="5378867"/>
            <a:ext cx="324795" cy="324795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196328" y="5029200"/>
            <a:ext cx="41879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repeatable delivery model</a:t>
            </a:r>
            <a:endParaRPr lang="en-US" sz="1600" dirty="0"/>
          </a:p>
        </p:txBody>
      </p:sp>
      <p:sp>
        <p:nvSpPr>
          <p:cNvPr id="27" name="Text 21"/>
          <p:cNvSpPr/>
          <p:nvPr/>
        </p:nvSpPr>
        <p:spPr>
          <a:xfrm>
            <a:off x="7196328" y="5422392"/>
            <a:ext cx="416966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AI-augmented approach now scales across future initiatives, compounding productivity gains over time.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 2026  —  Priorities &amp; Outlook</a:t>
            </a:r>
            <a:endParaRPr lang="en-US" sz="3300" dirty="0"/>
          </a:p>
        </p:txBody>
      </p:sp>
      <p:sp>
        <p:nvSpPr>
          <p:cNvPr id="3" name="Text 1"/>
          <p:cNvSpPr/>
          <p:nvPr/>
        </p:nvSpPr>
        <p:spPr>
          <a:xfrm>
            <a:off x="566928" y="10058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forward-looking roadmap: scaling automation, maturing governance, moving from reactive to predictive.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517904"/>
            <a:ext cx="11091672" cy="841248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1773936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25880" y="16276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  ·  BY END OF JUNE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325880" y="1883664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08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 &amp; stabilization support for newly onboarded teams</a:t>
            </a:r>
            <a:endParaRPr lang="en-US" sz="1080" dirty="0"/>
          </a:p>
          <a:p>
            <a:pPr indent="0" marL="0">
              <a:buNone/>
            </a:pPr>
            <a:r>
              <a:rPr lang="en-US" sz="108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Incremental hardening of observability dashboards &amp; orchestration reliability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548640" y="2615184"/>
            <a:ext cx="265176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48640" y="2615184"/>
            <a:ext cx="265176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0" name="Shape 7"/>
          <p:cNvSpPr/>
          <p:nvPr/>
        </p:nvSpPr>
        <p:spPr>
          <a:xfrm>
            <a:off x="822960" y="2907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4626" y="3069458"/>
            <a:ext cx="298460" cy="2984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804672" y="36393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Observability V2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804672" y="420624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Stage-based SLA framework with an attribution engine, live breach alerting, and performance tuning (Redis, Cairo).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3364992" y="2615184"/>
            <a:ext cx="265176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3364992" y="2615184"/>
            <a:ext cx="265176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Shape 12"/>
          <p:cNvSpPr/>
          <p:nvPr/>
        </p:nvSpPr>
        <p:spPr>
          <a:xfrm>
            <a:off x="3639312" y="2907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0978" y="3069458"/>
            <a:ext cx="298460" cy="2984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21024" y="36393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Orchestration at Scale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3621024" y="420624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Airflow performance tuning, tenant-specific entitlements model, and a multi-tenant release framework.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6181344" y="2615184"/>
            <a:ext cx="265176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6181344" y="2615184"/>
            <a:ext cx="265176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2" name="Shape 17"/>
          <p:cNvSpPr/>
          <p:nvPr/>
        </p:nvSpPr>
        <p:spPr>
          <a:xfrm>
            <a:off x="6455664" y="2907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330" y="3069458"/>
            <a:ext cx="298460" cy="29846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437376" y="36393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Regulatory &amp; Modernization</a:t>
            </a:r>
            <a:endParaRPr lang="en-US" sz="1450" dirty="0"/>
          </a:p>
        </p:txBody>
      </p:sp>
      <p:sp>
        <p:nvSpPr>
          <p:cNvPr id="25" name="Text 19"/>
          <p:cNvSpPr/>
          <p:nvPr/>
        </p:nvSpPr>
        <p:spPr>
          <a:xfrm>
            <a:off x="6437376" y="420624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upgrade (v14 → v17) and continued VM15 compliance remediation to sustain regulatory standing.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8997696" y="2615184"/>
            <a:ext cx="265176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F0"/>
            </a:solidFill>
            <a:prstDash val="solid"/>
          </a:ln>
          <a:effectLst>
            <a:outerShdw sx="100000" sy="100000" kx="0" ky="0" algn="bl" rotWithShape="0" blurRad="88900" dist="38100" dir="8100000">
              <a:srgbClr val="8893A8">
                <a:alpha val="2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8997696" y="2615184"/>
            <a:ext cx="2651760" cy="91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8" name="Shape 22"/>
          <p:cNvSpPr/>
          <p:nvPr/>
        </p:nvSpPr>
        <p:spPr>
          <a:xfrm>
            <a:off x="9272016" y="2907792"/>
            <a:ext cx="621792" cy="62179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33682" y="3069458"/>
            <a:ext cx="298460" cy="2984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9253728" y="3639312"/>
            <a:ext cx="21945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Support &amp; Stability</a:t>
            </a:r>
            <a:endParaRPr lang="en-US" sz="1450" dirty="0"/>
          </a:p>
        </p:txBody>
      </p:sp>
      <p:sp>
        <p:nvSpPr>
          <p:cNvPr id="31" name="Text 24"/>
          <p:cNvSpPr/>
          <p:nvPr/>
        </p:nvSpPr>
        <p:spPr>
          <a:xfrm>
            <a:off x="9253728" y="4206240"/>
            <a:ext cx="2176272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6000"/>
              </a:lnSpc>
              <a:buNone/>
            </a:pPr>
            <a:r>
              <a:rPr lang="en-US" sz="1050" dirty="0">
                <a:solidFill>
                  <a:srgbClr val="2626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 Capital and LiFE platform support with strengthened production incident management.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548640" y="5376672"/>
            <a:ext cx="11091672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3" name="Text 26"/>
          <p:cNvSpPr/>
          <p:nvPr/>
        </p:nvSpPr>
        <p:spPr>
          <a:xfrm>
            <a:off x="868680" y="552297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spc="5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STRATEGIC THEMES</a:t>
            </a:r>
            <a:endParaRPr lang="en-US" sz="1050" dirty="0"/>
          </a:p>
        </p:txBody>
      </p:sp>
      <p:sp>
        <p:nvSpPr>
          <p:cNvPr id="34" name="Text 27"/>
          <p:cNvSpPr/>
          <p:nvPr/>
        </p:nvSpPr>
        <p:spPr>
          <a:xfrm>
            <a:off x="3063240" y="550468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&amp; predictive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1100" dirty="0"/>
          </a:p>
        </p:txBody>
      </p:sp>
      <p:sp>
        <p:nvSpPr>
          <p:cNvPr id="35" name="Shape 28"/>
          <p:cNvSpPr/>
          <p:nvPr/>
        </p:nvSpPr>
        <p:spPr>
          <a:xfrm>
            <a:off x="5038344" y="5577840"/>
            <a:ext cx="0" cy="512064"/>
          </a:xfrm>
          <a:prstGeom prst="line">
            <a:avLst/>
          </a:prstGeom>
          <a:noFill/>
          <a:ln w="12700">
            <a:solidFill>
              <a:srgbClr val="3E4A7E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5184648" y="550468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Scalable multi-tenant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100" dirty="0"/>
          </a:p>
        </p:txBody>
      </p:sp>
      <p:sp>
        <p:nvSpPr>
          <p:cNvPr id="37" name="Shape 30"/>
          <p:cNvSpPr/>
          <p:nvPr/>
        </p:nvSpPr>
        <p:spPr>
          <a:xfrm>
            <a:off x="7159752" y="5577840"/>
            <a:ext cx="0" cy="512064"/>
          </a:xfrm>
          <a:prstGeom prst="line">
            <a:avLst/>
          </a:prstGeom>
          <a:noFill/>
          <a:ln w="12700">
            <a:solidFill>
              <a:srgbClr val="3E4A7E"/>
            </a:solidFill>
            <a:prstDash val="solid"/>
          </a:ln>
        </p:spPr>
      </p:sp>
      <p:sp>
        <p:nvSpPr>
          <p:cNvPr id="38" name="Text 31"/>
          <p:cNvSpPr/>
          <p:nvPr/>
        </p:nvSpPr>
        <p:spPr>
          <a:xfrm>
            <a:off x="7306056" y="550468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governance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auditability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9281160" y="5577840"/>
            <a:ext cx="0" cy="512064"/>
          </a:xfrm>
          <a:prstGeom prst="line">
            <a:avLst/>
          </a:prstGeom>
          <a:noFill/>
          <a:ln w="12700">
            <a:solidFill>
              <a:srgbClr val="3E4A7E"/>
            </a:solidFill>
            <a:prstDash val="solid"/>
          </a:ln>
        </p:spPr>
      </p:sp>
      <p:sp>
        <p:nvSpPr>
          <p:cNvPr id="40" name="Text 33"/>
          <p:cNvSpPr/>
          <p:nvPr/>
        </p:nvSpPr>
        <p:spPr>
          <a:xfrm>
            <a:off x="9427464" y="5504688"/>
            <a:ext cx="19933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Sustained AI-driven</a:t>
            </a:r>
            <a:endParaRPr lang="en-US" sz="1100" dirty="0"/>
          </a:p>
          <a:p>
            <a:pPr algn="l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efficiency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H1 2026 Review — Executive Insert</dc:title>
  <dc:subject>PptxGenJS Presentation</dc:subject>
  <dc:creator>Delivery Stream</dc:creator>
  <cp:lastModifiedBy>Delivery Stream</cp:lastModifiedBy>
  <cp:revision>1</cp:revision>
  <dcterms:created xsi:type="dcterms:W3CDTF">2026-05-23T02:31:22Z</dcterms:created>
  <dcterms:modified xsi:type="dcterms:W3CDTF">2026-05-23T02:31:22Z</dcterms:modified>
</cp:coreProperties>
</file>