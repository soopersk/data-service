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B7B7B7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1F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7B7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Pre-copilot</c:v>
                  </c:pt>
                  <c:pt idx="1">
                    <c:v>With AI copilot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F1F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1F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 —  Delivery Highlights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decisive shift from manual operations to an automated, intelligence-driven platform.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27729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157984"/>
            <a:ext cx="25900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reporting effort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21558" y="1536192"/>
            <a:ext cx="27729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3412998" y="2157984"/>
            <a:ext cx="25900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sprint velocity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AI copilot adoption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21558" y="1591056"/>
            <a:ext cx="0" cy="1024128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476" y="1536192"/>
            <a:ext cx="27729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185916" y="2157984"/>
            <a:ext cx="25900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vulnerabilities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full compliance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4476" y="1591056"/>
            <a:ext cx="0" cy="1024128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7394" y="1536192"/>
            <a:ext cx="27729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958834" y="2157984"/>
            <a:ext cx="25900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teams</a:t>
            </a:r>
            <a:endParaRPr lang="en-US" sz="10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to the platform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7394" y="1591056"/>
            <a:ext cx="0" cy="1024128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98064"/>
            <a:ext cx="11091672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34015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3599078"/>
            <a:ext cx="336499" cy="33649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7824" y="4297680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Flagship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7824" y="4773168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centralized intelligence layer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calculator runtime and SLA data — delivered end-to-end with real-time tracking, automated dashboards, and audit-ready history.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06824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36008" y="34015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518" y="3599078"/>
            <a:ext cx="336499" cy="33649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636008" y="4297680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Platform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636008" y="4773168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multi-tenant support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ACD platform with logical team isolation, autonomous release cycles, and role-based access for secure, scalable onboarding.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065008" y="3072384"/>
            <a:ext cx="35753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94192" y="3401568"/>
            <a:ext cx="73152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2" y="3599078"/>
            <a:ext cx="336499" cy="336499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94192" y="4297680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Scale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8394192" y="4773168"/>
            <a:ext cx="2953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VM15 critical vulnerabilities closed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achieving full regulatory compliance and a materially stronger platform risk posture.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Productivity &amp; Delivery Acceleration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AI into the delivery model — measurable ROI in speed, capacity, and quality.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00784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27249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IN SPRINT VELOCITY WITH AI COPILOT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03580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one extra day of delivery capacity per developer, each week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694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 ·  INDEXED TO PRE-COPILOT BASELINE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3950208"/>
          <a:ext cx="52578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943600" y="1897380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986" y="2104766"/>
            <a:ext cx="353324" cy="3533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7728" y="1773936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flagship delivery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967728" y="2157984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compressed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Observability build timeline, bringing a strategic capability to the business sooner.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0" y="3054096"/>
            <a:ext cx="5696712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ysDot"/>
          </a:ln>
        </p:spPr>
      </p:sp>
      <p:sp>
        <p:nvSpPr>
          <p:cNvPr id="15" name="Shape 11"/>
          <p:cNvSpPr/>
          <p:nvPr/>
        </p:nvSpPr>
        <p:spPr>
          <a:xfrm>
            <a:off x="5943600" y="3442716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986" y="3650102"/>
            <a:ext cx="353324" cy="3533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67728" y="3319272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without trade-offs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967728" y="3703320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improved alongside pace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 coverage rose with delivery speed; faster delivery, not riskier delivery.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0" y="4599432"/>
            <a:ext cx="5696712" cy="0"/>
          </a:xfrm>
          <a:prstGeom prst="line">
            <a:avLst/>
          </a:prstGeom>
          <a:noFill/>
          <a:ln w="12700">
            <a:solidFill>
              <a:srgbClr val="D7D7D7"/>
            </a:solidFill>
            <a:prstDash val="sysDot"/>
          </a:ln>
        </p:spPr>
      </p:sp>
      <p:sp>
        <p:nvSpPr>
          <p:cNvPr id="20" name="Shape 15"/>
          <p:cNvSpPr/>
          <p:nvPr/>
        </p:nvSpPr>
        <p:spPr>
          <a:xfrm>
            <a:off x="5943600" y="4988052"/>
            <a:ext cx="768096" cy="7680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986" y="5195438"/>
            <a:ext cx="353324" cy="3533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67728" y="4864608"/>
            <a:ext cx="467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delivery model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967728" y="5248656"/>
            <a:ext cx="4672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AI-augmented approach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 scales across future initiatives, compounding productivity gains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Priorities &amp; Outlook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roadmap: scaling automation, maturing governance, moving from reactive to predictive.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1672" cy="8229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17904"/>
            <a:ext cx="73152" cy="822960"/>
          </a:xfrm>
          <a:prstGeom prst="rect">
            <a:avLst/>
          </a:prstGeom>
          <a:solidFill>
            <a:srgbClr val="C810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647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BY END OF JUNE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61872" y="186537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stabilization support for newly onboarded teams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hardening of observability dashboards &amp; orchestration reliability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19" y="3048975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SLA framework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attribution engine, live breach alerting, and performance tuning (Redis, Cairo).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64992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39312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071" y="3048975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39312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at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639312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performance tuning,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tenant-specific entitlements, and a multi-tenant release framework.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81344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55664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423" y="3048975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55664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Modernization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55664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upgrade (v14→v17)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continued VM15 compliance remediation to sustain regulatory standing.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997696" y="2578608"/>
            <a:ext cx="2651760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272016" y="28712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9775" y="3048975"/>
            <a:ext cx="302849" cy="3028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72016" y="36393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Stability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272016" y="4169664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Capital &amp; LiFE support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strengthened production incident management and reliability.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48640" y="5358384"/>
            <a:ext cx="11091672" cy="9144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0" name="Shape 23"/>
          <p:cNvSpPr/>
          <p:nvPr/>
        </p:nvSpPr>
        <p:spPr>
          <a:xfrm>
            <a:off x="548640" y="5358384"/>
            <a:ext cx="73152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1" name="Text 24"/>
          <p:cNvSpPr/>
          <p:nvPr/>
        </p:nvSpPr>
        <p:spPr>
          <a:xfrm>
            <a:off x="768096" y="535838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STRATEGIC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spc="4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2743200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&amp; predictive observability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802886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967478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multi-tenant operations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7027164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191756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governance &amp; auditability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251442" y="554126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416034" y="5468112"/>
            <a:ext cx="191338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AI-driven efficiency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2026 Review - Executive Insert</dc:title>
  <dc:subject>PptxGenJS Presentation</dc:subject>
  <dc:creator>Delivery Stream</dc:creator>
  <cp:lastModifiedBy>Delivery Stream</cp:lastModifiedBy>
  <cp:revision>1</cp:revision>
  <dcterms:created xsi:type="dcterms:W3CDTF">2026-05-23T02:47:50Z</dcterms:created>
  <dcterms:modified xsi:type="dcterms:W3CDTF">2026-05-23T02:47:50Z</dcterms:modified>
</cp:coreProperties>
</file>